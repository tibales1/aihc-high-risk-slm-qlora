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A78D6"/>
                </a:solidFill>
                <a:latin typeface="Segoe UI"/>
              </a:rPr>
              <a:t>PHASE 2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Fine-Tuning a Small Language Model</a:t>
            </a:r>
          </a:p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0B0B0B"/>
                </a:solidFill>
                <a:latin typeface="Segoe UI"/>
              </a:rPr>
              <a:t>for In-Hospital Mortality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52514E"/>
                </a:solidFill>
                <a:latin typeface="Segoe UI"/>
              </a:rPr>
              <a:t>A QLoRA approach on constrained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2926080" cy="254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Thomas I. Bales   ·   University of Texas at Austin   ·   AI in Healthcare, Summer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98781"/>
                </a:solidFill>
                <a:latin typeface="Segoe UI"/>
              </a:rPr>
              <a:t>llama-3.1-8B   ·   6.8M trainable params (0.08%)   ·   single Tesla T4   ·   temperature 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THE RESULT, ON HELD-OUT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Better on both axes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200 patients the model never saw in training — the same 200 scored by both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21992"/>
            <a:ext cx="25420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2A78D6"/>
                </a:solidFill>
                <a:latin typeface="Segoe UI"/>
              </a:rPr>
              <a:t>2.5×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254203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more deaths caught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76472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898781"/>
                </a:solidFill>
                <a:latin typeface="Segoe UI"/>
              </a:rPr>
              <a:t>recall 18% → 46%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20574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2221992"/>
            <a:ext cx="25420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2A78D6"/>
                </a:solidFill>
                <a:latin typeface="Segoe UI"/>
              </a:rPr>
              <a:t>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3383280"/>
            <a:ext cx="254203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more precise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3776472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898781"/>
                </a:solidFill>
                <a:latin typeface="Segoe UI"/>
              </a:rPr>
              <a:t>11% → 56% of flags correct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574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0488" y="2221992"/>
            <a:ext cx="25420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EB6834"/>
                </a:solidFill>
                <a:latin typeface="Segoe UI"/>
              </a:rPr>
              <a:t>10 / 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383280"/>
            <a:ext cx="254203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deaths flagged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776472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898781"/>
                </a:solidFill>
                <a:latin typeface="Segoe UI"/>
              </a:rPr>
              <a:t>baseline caught only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7112" y="2057400"/>
            <a:ext cx="254203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7112" y="2221992"/>
            <a:ext cx="2542032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CA30C"/>
                </a:solidFill>
                <a:latin typeface="Segoe UI"/>
              </a:rPr>
              <a:t>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3383280"/>
            <a:ext cx="254203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3776472"/>
            <a:ext cx="254203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898781"/>
                </a:solidFill>
                <a:latin typeface="Segoe UI"/>
              </a:rPr>
              <a:t>up from 74.5%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709160"/>
            <a:ext cx="10634472" cy="1234440"/>
          </a:xfrm>
          <a:prstGeom prst="roundRect">
            <a:avLst>
              <a:gd name="adj" fmla="val 6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92040"/>
            <a:ext cx="10058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0" i="0">
                <a:solidFill>
                  <a:srgbClr val="0B0B0B"/>
                </a:solidFill>
                <a:latin typeface="Segoe UI"/>
              </a:rPr>
              <a:t>The model catches more deaths </a:t>
            </a:r>
            <a:r>
              <a:rPr sz="1700" b="1" i="0">
                <a:solidFill>
                  <a:srgbClr val="0B0B0B"/>
                </a:solidFill>
                <a:latin typeface="Segoe UI"/>
              </a:rPr>
              <a:t>and</a:t>
            </a:r>
            <a:r>
              <a:rPr sz="1700" b="0" i="0">
                <a:solidFill>
                  <a:srgbClr val="0B0B0B"/>
                </a:solidFill>
                <a:latin typeface="Segoe UI"/>
              </a:rPr>
              <a:t> is right more often when it flags — it did not trade one for the other, </a:t>
            </a:r>
            <a:r>
              <a:rPr sz="1700" b="0" i="0">
                <a:solidFill>
                  <a:srgbClr val="0B0B0B"/>
                </a:solidFill>
                <a:latin typeface="Segoe UI"/>
              </a:rPr>
              <a:t>and it did not hide in the majority class.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8781"/>
                </a:solidFill>
                <a:latin typeface="Segoe UI"/>
              </a:rPr>
              <a:t>Metrics computed directly from the saved held-out confusion matrix (data/phase2_results/validation_results.json).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HELD-OUT CONFUSION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18 flagged — 10 true, 8 false alarms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8143257" cy="4709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737360"/>
            <a:ext cx="484632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0B0B0B"/>
                </a:solidFill>
                <a:latin typeface="Segoe UI"/>
              </a:rPr>
              <a:t>10 of 22 deaths caught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True positives — correctly flagged as high-risk.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52514E"/>
                </a:solidFill>
                <a:latin typeface="Segoe UI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D03B3B"/>
                </a:solidFill>
                <a:latin typeface="Segoe UI"/>
              </a:rPr>
              <a:t>12 deaths missed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False negatives — the cost that matters most clinically.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800" b="0" i="0">
                <a:solidFill>
                  <a:srgbClr val="52514E"/>
                </a:solidFill>
                <a:latin typeface="Segoe UI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1" i="0">
                <a:solidFill>
                  <a:srgbClr val="0B0B0B"/>
                </a:solidFill>
                <a:latin typeface="Segoe UI"/>
              </a:rPr>
              <a:t>8 false alarms of 178 survivors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A calibrated operating point: total flags (18) sit near the true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death count (22) — the model learned the correct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8781"/>
                </a:solidFill>
                <a:latin typeface="Segoe UI"/>
              </a:rPr>
              <a:t>Color encodes each cell's share of its row, so both rows stay legible despite the 170-vs-rest class imbalance.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BASELINE VS. FINE-TUNED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Zero-shot llama-3.1-8B vs. a 0.08% adapter</a:t>
            </a:r>
          </a:p>
        </p:txBody>
      </p:sp>
      <p:pic>
        <p:nvPicPr>
          <p:cNvPr id="5" name="Picture 4" descr="zeroshot_vs_lo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1481328"/>
            <a:ext cx="8437231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8781"/>
                </a:solidFill>
                <a:latin typeface="Segoe UI"/>
              </a:rPr>
              <a:t>Apples-to-apples: the untuned base at zero-shot vs. the same base with the LoRA adapter, both at temperature 0.0 on the identical 200 held-out patients.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WHY THESE NUMBERS ARE TRUSTWORTHY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codebase told a different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What full inspection of the Phase 1 output and the training pipeline surfaced — before any result was believed.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3429000" cy="2542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3429000" cy="457200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21992"/>
            <a:ext cx="34290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CRITICAL — caught &amp; 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15768"/>
            <a:ext cx="3026664" cy="19019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550" b="1" i="0">
                <a:solidFill>
                  <a:srgbClr val="0B0B0B"/>
                </a:solidFill>
                <a:latin typeface="Segoe UI"/>
              </a:rPr>
              <a:t>Validation set was inside training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All 200/200 held-out patients also appeared in the training data — “validation” would have measured memorization, not generalization.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1" i="0">
                <a:solidFill>
                  <a:srgbClr val="D03B3B"/>
                </a:solidFill>
                <a:latin typeface="Segoe UI"/>
              </a:rPr>
              <a:t>Fixed: 213 pairs dropped; 0 of 200 remain.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148840"/>
            <a:ext cx="3429000" cy="2542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2148840"/>
            <a:ext cx="3429000" cy="4572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2221992"/>
            <a:ext cx="34290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IRREDUCIBLE NOISE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715768"/>
            <a:ext cx="3026664" cy="19019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550" b="1" i="0">
                <a:solidFill>
                  <a:srgbClr val="0B0B0B"/>
                </a:solidFill>
                <a:latin typeface="Segoe UI"/>
              </a:rPr>
              <a:t>265 contradictory labels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Identical descriptions carry both Yes and No — 17 coarse features render the same text for patients with different outcomes.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1" i="0">
                <a:solidFill>
                  <a:srgbClr val="EB6834"/>
                </a:solidFill>
                <a:latin typeface="Segoe UI"/>
              </a:rPr>
              <a:t>Caps achievable accuracy; no training removes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2712" y="2148840"/>
            <a:ext cx="3429000" cy="2542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82712" y="2148840"/>
            <a:ext cx="3429000" cy="4572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82712" y="2221992"/>
            <a:ext cx="342900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HONEST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715768"/>
            <a:ext cx="3026664" cy="190195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550" b="1" i="0">
                <a:solidFill>
                  <a:srgbClr val="0B0B0B"/>
                </a:solidFill>
                <a:latin typeface="Segoe UI"/>
              </a:rPr>
              <a:t>Grouped, prevalence-preserving split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Split by patient description (0 overlap), not at random. Eval keeps the natural 12% death rate; only training is rebalanced.</a:t>
            </a:r>
          </a:p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250" b="1" i="0">
                <a:solidFill>
                  <a:srgbClr val="2A78D6"/>
                </a:solidFill>
                <a:latin typeface="Segoe UI"/>
              </a:rPr>
              <a:t>Recall is the headline — always-“No” scores 89%.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64608"/>
            <a:ext cx="10634472" cy="118872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001768"/>
            <a:ext cx="1005840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 i="0">
                <a:solidFill>
                  <a:srgbClr val="0B0B0B"/>
                </a:solidFill>
                <a:latin typeface="Segoe UI"/>
              </a:rPr>
              <a:t>The interactive-chat version of this deck could not see any of this. </a:t>
            </a:r>
            <a:r>
              <a:rPr sz="1550" b="0" i="0">
                <a:solidFill>
                  <a:srgbClr val="0B0B0B"/>
                </a:solidFill>
                <a:latin typeface="Segoe UI"/>
              </a:rPr>
              <a:t>The single most important fix — removing the validation leak — is what makes the headline comparison a real measurement rather than a memorization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MAKING AN 8B MODEL FIT AND RUN ON ONE T4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Three bugs stood between the model and a first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3447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28800"/>
            <a:ext cx="128016" cy="117043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2651760" cy="11704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A78D6"/>
                </a:solidFill>
                <a:latin typeface="Segoe UI"/>
              </a:rPr>
              <a:t>Wrong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38528"/>
            <a:ext cx="7360920" cy="9875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device_map="auto" filled cuda:0 = the 8 GB RTX 2080, not the T4. Fixed by pinning CUDA_VISIBLE_DEVICES to the T4's UUID as the kernel's first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00400"/>
            <a:ext cx="1063447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200400"/>
            <a:ext cx="128016" cy="117043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200400"/>
            <a:ext cx="2651760" cy="11704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Segoe UI"/>
              </a:rPr>
              <a:t>Did not 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10128"/>
            <a:ext cx="7360920" cy="9875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llama-3.1-8B is ~16.1 GB in fp16 against the T4's 15.9 GB. 4-bit NF4 QLoRA cut the footprint to 5.6 GB — loadable and trainable on one card.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572000"/>
            <a:ext cx="1063447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572000"/>
            <a:ext cx="128016" cy="1170432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572000"/>
            <a:ext cx="2651760" cy="11704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D03B3B"/>
                </a:solidFill>
                <a:latin typeface="Segoe UI"/>
              </a:rPr>
              <a:t>Kernel crash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681728"/>
            <a:ext cx="7360920" cy="9875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transformers 5.13 hardcodes the safetensors mmap backend; mmap reads of the 16 GB checkpoint faulted with an access violation. Fixed by forcing the pread backend.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8781"/>
                </a:solidFill>
                <a:latin typeface="Segoe UI"/>
              </a:rPr>
              <a:t>None of the three was the OOM it first looked like. Each was diagnosed from the actual failure, not guessed — the reason a codebase-grounded account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HOW IT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 textbook arc with a noise-floor signature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2,072 optimizer steps, one epoch. Class-balanced training pulled the model off the base rate; the decaying learning rate did the 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58775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587752" cy="10972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04872"/>
            <a:ext cx="258775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2587752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0B0B"/>
                </a:solidFill>
                <a:latin typeface="Segoe UI"/>
              </a:rPr>
              <a:t>Collapse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258775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898781"/>
                </a:solidFill>
                <a:latin typeface="Segoe UI"/>
              </a:rPr>
              <a:t>Steps 0–150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31920"/>
            <a:ext cx="2221992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Recall 0.000 — refused to flag anyone, hiding in the 88% base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2148840"/>
            <a:ext cx="258775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38728" y="2148840"/>
            <a:ext cx="2587752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404872"/>
            <a:ext cx="258775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B6834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3108960"/>
            <a:ext cx="2587752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0B0B"/>
                </a:solidFill>
                <a:latin typeface="Segoe UI"/>
              </a:rPr>
              <a:t>Breakout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520440"/>
            <a:ext cx="258775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B6834"/>
                </a:solidFill>
                <a:latin typeface="Segoe UI"/>
              </a:rPr>
              <a:t>Steps 200–900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931920"/>
            <a:ext cx="2221992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Class-balancing lifted recall off zero; swings between aggressive and conservative were violent.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148840"/>
            <a:ext cx="258775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216" y="2148840"/>
            <a:ext cx="2587752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2404872"/>
            <a:ext cx="258775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108960"/>
            <a:ext cx="2587752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0B0B"/>
                </a:solidFill>
                <a:latin typeface="Segoe UI"/>
              </a:rPr>
              <a:t>Damping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3520440"/>
            <a:ext cx="258775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A78D6"/>
                </a:solidFill>
                <a:latin typeface="Segoe UI"/>
              </a:rPr>
              <a:t>Steps 950–1550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931920"/>
            <a:ext cx="2221992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Decaying learning rate narrowed the swings; flag count tightened toward a stable band.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61704" y="2148840"/>
            <a:ext cx="258775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61704" y="2148840"/>
            <a:ext cx="2587752" cy="109728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704" y="2404872"/>
            <a:ext cx="2587752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CA30C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1704" y="3108960"/>
            <a:ext cx="2587752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0B0B0B"/>
                </a:solidFill>
                <a:latin typeface="Segoe UI"/>
              </a:rPr>
              <a:t>Convergence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1704" y="3520440"/>
            <a:ext cx="258775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CA30C"/>
                </a:solidFill>
                <a:latin typeface="Segoe UI"/>
              </a:rPr>
              <a:t>Steps 1600–2072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3931920"/>
            <a:ext cx="2221992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52514E"/>
                </a:solidFill>
                <a:latin typeface="Segoe UI"/>
              </a:rPr>
              <a:t>F1 peaked (0.41), loss settled ~0.19, flag count matched the true death count.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8781"/>
                </a:solidFill>
                <a:latin typeface="Segoe UI"/>
              </a:rPr>
              <a:t>No overfitting: training and validation loss fell together throughout. Step-level figures per the run's eval log (docs/PHASE2_FINDINGS.md).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THE TRADEOFF IS A VALUES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Two adjacent steps — same weights, opposite thresholds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874519"/>
            <a:ext cx="5120640" cy="548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59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Step 850 — aggressive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59"/>
            <a:ext cx="44805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B0B0B"/>
                </a:solidFill>
                <a:latin typeface="Segoe UI"/>
              </a:rPr>
              <a:t>Recall 0.51</a:t>
            </a:r>
            <a:r>
              <a:rPr sz="2200" b="0" i="0">
                <a:solidFill>
                  <a:srgbClr val="898781"/>
                </a:solidFill>
                <a:latin typeface="Segoe UI"/>
              </a:rPr>
              <a:t>     Precision 0.26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470 patients flagged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Catch half the deaths — accept many false alarms.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74519"/>
            <a:ext cx="512064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874519"/>
            <a:ext cx="5120640" cy="5486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65959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Step 900 — conservative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51759"/>
            <a:ext cx="4480560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>
                <a:solidFill>
                  <a:srgbClr val="0B0B0B"/>
                </a:solidFill>
                <a:latin typeface="Segoe UI"/>
              </a:rPr>
              <a:t>Recall 0.15</a:t>
            </a:r>
            <a:r>
              <a:rPr sz="2200" b="0" i="0">
                <a:solidFill>
                  <a:srgbClr val="898781"/>
                </a:solidFill>
                <a:latin typeface="Segoe UI"/>
              </a:rPr>
              <a:t>     Precision 0.69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54 patients flagged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52514E"/>
                </a:solidFill>
                <a:latin typeface="Segoe UI"/>
              </a:rPr>
              <a:t>Flag almost nobody — but rarely cry wolf.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029200"/>
            <a:ext cx="10634472" cy="1051560"/>
          </a:xfrm>
          <a:prstGeom prst="roundRect">
            <a:avLst>
              <a:gd name="adj" fmla="val 6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166360"/>
            <a:ext cx="1005840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50" b="1" i="0">
                <a:solidFill>
                  <a:srgbClr val="0B0B0B"/>
                </a:solidFill>
                <a:latin typeface="Segoe UI"/>
              </a:rPr>
              <a:t>Which operating point you deploy is not a technical choice — it is a clinical-values decision</a:t>
            </a:r>
            <a:r>
              <a:rPr sz="1550" b="0" i="0">
                <a:solidFill>
                  <a:srgbClr val="0B0B0B"/>
                </a:solidFill>
                <a:latin typeface="Segoe UI"/>
              </a:rPr>
              <a:t> about how many false alarms are acceptable to catch one more death. That belongs to an accountable institution, not a silent default.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WHAT IT COST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One passive datacenter GPU, on the edge of its thermal envelope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34290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0552"/>
            <a:ext cx="34290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D03B3B"/>
                </a:solidFill>
                <a:latin typeface="Segoe UI"/>
              </a:rPr>
              <a:t>97 → 94 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54680"/>
            <a:ext cx="3429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peak → stable plateau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47872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898781"/>
                </a:solidFill>
                <a:latin typeface="Segoe UI"/>
              </a:rPr>
              <a:t>2 °C inside hardware shutdown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965960"/>
            <a:ext cx="34290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2130552"/>
            <a:ext cx="34290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2A78D6"/>
                </a:solidFill>
                <a:latin typeface="Segoe UI"/>
              </a:rPr>
              <a:t>5.6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3154680"/>
            <a:ext cx="3429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4-bit NF4 footprint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547872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898781"/>
                </a:solidFill>
                <a:latin typeface="Segoe UI"/>
              </a:rPr>
              <a:t>down from ~16 GB in fp16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1965960"/>
            <a:ext cx="34290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82712" y="2130552"/>
            <a:ext cx="34290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0CA30C"/>
                </a:solidFill>
                <a:latin typeface="Segoe UI"/>
              </a:rPr>
              <a:t>~$30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3154680"/>
            <a:ext cx="34290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added hardware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2" y="3547872"/>
            <a:ext cx="3429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95000"/>
              </a:lnSpc>
            </a:pPr>
            <a:r>
              <a:rPr sz="1150" b="0" i="0">
                <a:solidFill>
                  <a:srgbClr val="898781"/>
                </a:solidFill>
                <a:latin typeface="Segoe UI"/>
              </a:rPr>
              <a:t>one floor fan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43400"/>
            <a:ext cx="10634472" cy="685800"/>
          </a:xfrm>
          <a:prstGeom prst="roundRect">
            <a:avLst>
              <a:gd name="adj" fmla="val 6000"/>
            </a:avLst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43400"/>
            <a:ext cx="1005840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0B0B"/>
                </a:solidFill>
                <a:latin typeface="Segoe UI"/>
              </a:rPr>
              <a:t>Interventions, in order:   cardboard air duct  →  floor fan  →  60 W power cap  →  batch-size cut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10634472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The enormous energy cost of this capability was front-loaded into pretraining — absorbed upstream, inherited for free. 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Segoe UI"/>
              </a:rPr>
              <a:t>Fine-tuning to beat the base cost near-zero marginal energy. That asymmetry — ecological cost socialized upstream, benefit accruing to every free-riding fine-tuner — is itself a governance question.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WHAT WAS PROVEN — AND ITS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 small adapter beat its own base; the ceiling is the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34472" cy="1234440"/>
          </a:xfrm>
          <a:prstGeom prst="roundRect">
            <a:avLst>
              <a:gd name="adj" fmla="val 6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9601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>
                <a:solidFill>
                  <a:srgbClr val="2A78D6"/>
                </a:solidFill>
                <a:latin typeface="Segoe UI"/>
              </a:rPr>
              <a:t>The claim:  </a:t>
            </a:r>
            <a:r>
              <a:rPr sz="1600" b="0" i="0">
                <a:solidFill>
                  <a:srgbClr val="0B0B0B"/>
                </a:solidFill>
                <a:latin typeface="Segoe UI"/>
              </a:rPr>
              <a:t>a small custom adapter on a small, open foundational model can beat that base model on a specialized clinical task — at minimal compute and energy cost, with deterministic, auditable output. The value came from unlocking knowledge already frozen in the weights; only 0.08% of parameters were trained.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3063240"/>
            <a:ext cx="5257800" cy="1097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48463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The ceiling is the data, not the model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265 descriptions carry contradictory labels — identical text, opposite outcomes. The model learns everything 17 coarse features permit, then oscillates around the residual noise floor.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3063240"/>
            <a:ext cx="52578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3063240"/>
            <a:ext cx="52578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291840"/>
            <a:ext cx="48463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1" i="0">
                <a:solidFill>
                  <a:srgbClr val="0B0B0B"/>
                </a:solidFill>
                <a:latin typeface="Segoe UI"/>
              </a:rPr>
              <a:t>Highest-value next step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Segoe UI"/>
              </a:rPr>
              <a:t>Richer features — raw labs, vitals, diagnosis codes — to separate patients the current descriptions collapse together. The bottleneck is feature resolution, not model capacity or method.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19088"/>
            <a:ext cx="106070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898781"/>
                </a:solidFill>
                <a:latin typeface="Segoe UI"/>
              </a:rPr>
              <a:t>Governance note: feature selection dropped race but kept insurance, which encodes race and class in the MIMIC cohort — a proxy that can look fair on a checklist.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7899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A78D6"/>
                </a:solidFill>
                <a:latin typeface="Segoe UI"/>
              </a:rPr>
              <a:t>FOR THE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713232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Configuration, determinism, and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394960" cy="3803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394960" cy="47548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2860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Base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91640"/>
            <a:ext cx="27432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llama-3.1-8B (frozen)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22860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167128"/>
            <a:ext cx="27432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QLoRA — 4-bit NF4 + adapter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42616"/>
            <a:ext cx="5394960" cy="47548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642616"/>
            <a:ext cx="22860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Rank / alpha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642616"/>
            <a:ext cx="27432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16 /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118104"/>
            <a:ext cx="22860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Trainable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3118104"/>
            <a:ext cx="27432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6,815,744  (0.08%)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93592"/>
            <a:ext cx="5394960" cy="47548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93592"/>
            <a:ext cx="22860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Epochs / eff. 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593592"/>
            <a:ext cx="27432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1 /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069080"/>
            <a:ext cx="22860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Learning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069080"/>
            <a:ext cx="27432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2e-4, decaying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544568"/>
            <a:ext cx="5394960" cy="47548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44568"/>
            <a:ext cx="22860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Inference temp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544568"/>
            <a:ext cx="27432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0.0 (deterministic)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20056"/>
            <a:ext cx="22860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Hardware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020056"/>
            <a:ext cx="2743200" cy="475488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B0B"/>
                </a:solidFill>
                <a:latin typeface="Segoe UI"/>
              </a:rPr>
              <a:t>Tesla T4 16 GB + $30 fan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1691640"/>
            <a:ext cx="4983480" cy="1508760"/>
          </a:xfrm>
          <a:prstGeom prst="roundRect">
            <a:avLst>
              <a:gd name="adj" fmla="val 6000"/>
            </a:avLst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1828800"/>
            <a:ext cx="452628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50" b="1" i="0">
                <a:solidFill>
                  <a:srgbClr val="2A78D6"/>
                </a:solidFill>
                <a:latin typeface="Segoe UI"/>
              </a:rPr>
              <a:t>Determinism as auditability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Segoe UI"/>
              </a:rPr>
              <a:t>Temperature 0.0 makes the same patient always yield the same assessment — reproducible, traceable, and reviewable. The bridge between neural inference and the verifiable decision systems safety-critical domains require.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29000"/>
            <a:ext cx="49834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64808" y="3867912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776472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Phase 3 — RAG + clinical persona (the third model version)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64808" y="4434840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4343400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Feature enrichment to lower the conflicting-label noise floor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64808" y="5001768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4910328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Report the full recall–precision frontier across checkpoints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64808" y="5568696"/>
            <a:ext cx="91440" cy="914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5477256"/>
            <a:ext cx="4663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2514E"/>
                </a:solidFill>
                <a:latin typeface="Segoe UI"/>
              </a:rPr>
              <a:t>Ensemble check: does the LoRA model miss different patients than the GBM / DNN baselines?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